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Random 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75.6</c:v>
                </c:pt>
                <c:pt idx="1">
                  <c:v>84.8</c:v>
                </c:pt>
                <c:pt idx="2">
                  <c:v>76.8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ROC-AUC (%)</c:v>
                </c:pt>
              </c:strCache>
            </c:strRef>
          </c:tx>
          <c:spPr>
            <a:solidFill>
              <a:srgbClr val="F970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Random 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60.9</c:v>
                </c:pt>
                <c:pt idx="1">
                  <c:v>53.9</c:v>
                </c:pt>
                <c:pt idx="2">
                  <c:v>61.1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image" Target="../media/image-7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114800" cy="411480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731520"/>
            <a:ext cx="2743200" cy="2743200"/>
          </a:xfrm>
          <a:prstGeom prst="ellipse">
            <a:avLst/>
          </a:prstGeom>
          <a:solidFill>
            <a:srgbClr val="14B8A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731520" y="3474720"/>
            <a:ext cx="2286000" cy="228600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7315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280160"/>
            <a:ext cx="6858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Heart Disease Prediction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Risk Analysis</a:t>
            </a:r>
            <a:endParaRPr lang="en-US" sz="3800" dirty="0"/>
          </a:p>
        </p:txBody>
      </p:sp>
      <p:sp>
        <p:nvSpPr>
          <p:cNvPr id="7" name="Shape 4"/>
          <p:cNvSpPr/>
          <p:nvPr/>
        </p:nvSpPr>
        <p:spPr>
          <a:xfrm>
            <a:off x="914400" y="3200400"/>
            <a:ext cx="2286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33832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&amp; Deep Learning Based System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Early Heart Disease Detection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4069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42976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Naga Sai Kedasu  &amp;  AR Fardin Shaik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1440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64592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3840480" cy="100584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3533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17.9M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37160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per year from CVDs globally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3840480" cy="100584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6974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5420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137160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cause of death worldwide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657600"/>
            <a:ext cx="3840480" cy="100584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862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7307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2800" dirty="0"/>
          </a:p>
        </p:txBody>
      </p:sp>
      <p:sp>
        <p:nvSpPr>
          <p:cNvPr id="15" name="Text 10"/>
          <p:cNvSpPr/>
          <p:nvPr/>
        </p:nvSpPr>
        <p:spPr>
          <a:xfrm>
            <a:off x="1371600" y="4206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heart attacks are preventable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846320" y="1280160"/>
            <a:ext cx="3931920" cy="3200400"/>
          </a:xfrm>
          <a:prstGeom prst="rect">
            <a:avLst/>
          </a:prstGeom>
          <a:solidFill>
            <a:srgbClr val="0B1D2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5120640" y="1463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5120640" y="196596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diagnosis relies on manual assessment, which is time-consuming and error-prone.</a:t>
            </a:r>
            <a:endParaRPr lang="en-US" sz="130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systems can analyze patient data and ECG images in seconds, enabling faster and more accurate early detection.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intervention can save millions of lives annually.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64592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8046720" cy="777240"/>
          </a:xfrm>
          <a:prstGeom prst="rect">
            <a:avLst/>
          </a:prstGeom>
          <a:solidFill>
            <a:srgbClr val="134E4A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39903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371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ML model to predict heart disease risk using clinical health indicators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148840"/>
            <a:ext cx="8046720" cy="777240"/>
          </a:xfrm>
          <a:prstGeom prst="rect">
            <a:avLst/>
          </a:prstGeom>
          <a:solidFill>
            <a:srgbClr val="134E4A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2313432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20240" y="22860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CNN model for ECG image classification (Normal vs Abnormal)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48640" y="3063240"/>
            <a:ext cx="8046720" cy="777240"/>
          </a:xfrm>
          <a:prstGeom prst="rect">
            <a:avLst/>
          </a:prstGeom>
          <a:solidFill>
            <a:srgbClr val="134E4A">
              <a:alpha val="50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73152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3227832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920240" y="32004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an interactive web application using Streamlit for real-time predictions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548640" y="3977640"/>
            <a:ext cx="8046720" cy="777240"/>
          </a:xfrm>
          <a:prstGeom prst="rect">
            <a:avLst/>
          </a:prstGeom>
          <a:solidFill>
            <a:srgbClr val="134E4A">
              <a:alpha val="50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73152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4142232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20240" y="41148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an AI chatbot for personalized health guidance and recommendations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64592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1554480" cy="25603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5544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148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6060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Data / ECG Image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2423160"/>
            <a:ext cx="320040" cy="3200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286000" y="1371600"/>
            <a:ext cx="1554480" cy="2560320"/>
          </a:xfrm>
          <a:prstGeom prst="rect">
            <a:avLst/>
          </a:prstGeom>
          <a:solidFill>
            <a:srgbClr val="0B1D2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155448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377440" y="2148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2377440" y="26060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Scaling, Encoding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SMOTE, Augmentation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242316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114800" y="1371600"/>
            <a:ext cx="1554480" cy="25603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1554480"/>
            <a:ext cx="457200" cy="4572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206240" y="2148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DL Models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4206240" y="26060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(ECG)</a:t>
            </a:r>
            <a:endParaRPr lang="en-US" sz="10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0" y="2423160"/>
            <a:ext cx="320040" cy="32004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5943600" y="1371600"/>
            <a:ext cx="1554480" cy="2560320"/>
          </a:xfrm>
          <a:prstGeom prst="rect">
            <a:avLst/>
          </a:prstGeom>
          <a:solidFill>
            <a:srgbClr val="0B1D2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1554480"/>
            <a:ext cx="457200" cy="4572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035040" y="2148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300" dirty="0"/>
          </a:p>
        </p:txBody>
      </p:sp>
      <p:sp>
        <p:nvSpPr>
          <p:cNvPr id="22" name="Text 13"/>
          <p:cNvSpPr/>
          <p:nvPr/>
        </p:nvSpPr>
        <p:spPr>
          <a:xfrm>
            <a:off x="6035040" y="26060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% / ECG Class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</a:t>
            </a:r>
            <a:endParaRPr lang="en-US" sz="10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9520" y="2423160"/>
            <a:ext cx="320040" cy="320040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7772400" y="1371600"/>
            <a:ext cx="1554480" cy="25603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1040" y="1554480"/>
            <a:ext cx="457200" cy="45720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7863840" y="2148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1300" dirty="0"/>
          </a:p>
        </p:txBody>
      </p:sp>
      <p:sp>
        <p:nvSpPr>
          <p:cNvPr id="27" name="Text 16"/>
          <p:cNvSpPr/>
          <p:nvPr/>
        </p:nvSpPr>
        <p:spPr>
          <a:xfrm>
            <a:off x="7863840" y="26060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Guidance</a:t>
            </a:r>
            <a:endParaRPr lang="en-US" sz="1000" dirty="0"/>
          </a:p>
        </p:txBody>
      </p:sp>
      <p:sp>
        <p:nvSpPr>
          <p:cNvPr id="28" name="Text 17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Pipeline: From Data Collection to AI-Driven Healthcare Insights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64592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134E4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Heart Disease Dataset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1874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BRFSS 2022 Survey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86000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22585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445,132 total records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61488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51560" y="273405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original features → 15 selected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236976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51560" y="320954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HadHeartAttack (binary)</a:t>
            </a:r>
            <a:endParaRPr lang="en-US" sz="11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712464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51560" y="36850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Age, BMI, Sleep, Smoking,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Diabetes, COPD, Depression, etc.</a:t>
            </a:r>
            <a:endParaRPr lang="en-US" sz="11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187952"/>
            <a:ext cx="201168" cy="20116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51560" y="4160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 classes (~6% positive)</a:t>
            </a:r>
            <a:endParaRPr lang="en-US" sz="1100" dirty="0"/>
          </a:p>
        </p:txBody>
      </p:sp>
      <p:sp>
        <p:nvSpPr>
          <p:cNvPr id="18" name="Shape 10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134E4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1371600"/>
            <a:ext cx="411480" cy="41148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57784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ECG Dataset</a:t>
            </a:r>
            <a:endParaRPr lang="en-US" sz="1600" dirty="0"/>
          </a:p>
        </p:txBody>
      </p:sp>
      <p:sp>
        <p:nvSpPr>
          <p:cNvPr id="21" name="Text 12"/>
          <p:cNvSpPr/>
          <p:nvPr/>
        </p:nvSpPr>
        <p:spPr>
          <a:xfrm>
            <a:off x="5029200" y="1874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MIT-BIH Arrhythmia Database</a:t>
            </a:r>
            <a:endParaRPr lang="en-US" sz="11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2286000"/>
            <a:ext cx="201168" cy="20116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349240" y="22585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87,554 training samples</a:t>
            </a:r>
            <a:endParaRPr lang="en-US" sz="11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0" y="2761488"/>
            <a:ext cx="201168" cy="20116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349240" y="273405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21,892 test samples</a:t>
            </a:r>
            <a:endParaRPr lang="en-US" sz="110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00" y="3236976"/>
            <a:ext cx="201168" cy="201168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349240" y="320954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 time-step signal features</a:t>
            </a:r>
            <a:endParaRPr lang="en-US" sz="1100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9200" y="3712464"/>
            <a:ext cx="201168" cy="201168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5349240" y="36850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Binary: Normal vs Abnormal</a:t>
            </a:r>
            <a:endParaRPr lang="en-US" sz="1100" dirty="0"/>
          </a:p>
        </p:txBody>
      </p:sp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9200" y="4187952"/>
            <a:ext cx="201168" cy="201168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5349240" y="4160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signals to images for CNN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Preprocessing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64592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023360" cy="105156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Missing Values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62763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NaN values by dropping incomplete rows; dataset reduced from 445K to 442K records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023360" cy="1051560"/>
          </a:xfrm>
          <a:prstGeom prst="rect">
            <a:avLst/>
          </a:prstGeom>
          <a:solidFill>
            <a:srgbClr val="0B1D2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9496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Selection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94960" y="162763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15 most relevant clinical features from 40 original columns based on domain knowledge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4023360" cy="105156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2514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2514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286207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LifestyleRiskScore combining smoking, alcohol, and physical activity indicators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423160"/>
            <a:ext cx="4023360" cy="1051560"/>
          </a:xfrm>
          <a:prstGeom prst="rect">
            <a:avLst/>
          </a:prstGeom>
          <a:solidFill>
            <a:srgbClr val="0B1D2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2514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94960" y="2514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Encoding &amp; Scaling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94960" y="286207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One-Hot Encoding for categorical features and StandardScaler for normalization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4023360" cy="105156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97280" y="3749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Balancing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409651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SMOTE (Synthetic Minority Over-sampling) to address severe class imbalance (~6% positive class)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657600"/>
            <a:ext cx="4023360" cy="1051560"/>
          </a:xfrm>
          <a:prstGeom prst="rect">
            <a:avLst/>
          </a:prstGeom>
          <a:solidFill>
            <a:srgbClr val="0B1D2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394960" y="3749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Train-Test Split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94960" y="409651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split preserving class distribution; random_state=42 for reproducibility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Model Comparison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645920" cy="36576"/>
          </a:xfrm>
          <a:prstGeom prst="rect">
            <a:avLst/>
          </a:prstGeom>
          <a:solidFill>
            <a:srgbClr val="0D9488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097280"/>
            <a:ext cx="3200400" cy="3200400"/>
          </a:xfrm>
          <a:prstGeom prst="rect">
            <a:avLst/>
          </a:prstGeom>
          <a:solidFill>
            <a:srgbClr val="0B1D2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783080"/>
            <a:ext cx="182880" cy="182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63640" y="1737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achieved highest accuracy at 84.8%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221992"/>
            <a:ext cx="182880" cy="1828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63640" y="21762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led ROC-AUC score at 61.1%</a:t>
            </a:r>
            <a:endParaRPr lang="en-US" sz="1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660904"/>
            <a:ext cx="182880" cy="1828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263640" y="261518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selected as primary model due to overall performance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3099816"/>
            <a:ext cx="182880" cy="18288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263640" y="305409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improved minority class recall significantly</a:t>
            </a:r>
            <a:endParaRPr lang="en-US" sz="10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3538728"/>
            <a:ext cx="182880" cy="18288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263640" y="349300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Precision-recall tradeoff observed across all models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ECG Deep Learning Module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64592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280160"/>
            <a:ext cx="1097280" cy="77724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2588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224×224×3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463040" y="1664208"/>
            <a:ext cx="137160" cy="0"/>
          </a:xfrm>
          <a:prstGeom prst="line">
            <a:avLst/>
          </a:prstGeom>
          <a:noFill/>
          <a:ln w="19050">
            <a:solidFill>
              <a:srgbClr val="5EEA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0200" y="1280160"/>
            <a:ext cx="1097280" cy="777240"/>
          </a:xfrm>
          <a:prstGeom prst="rect">
            <a:avLst/>
          </a:prstGeom>
          <a:solidFill>
            <a:srgbClr val="134E4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00200" y="132588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filters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97480" y="1664208"/>
            <a:ext cx="137160" cy="0"/>
          </a:xfrm>
          <a:prstGeom prst="line">
            <a:avLst/>
          </a:prstGeom>
          <a:noFill/>
          <a:ln w="19050">
            <a:solidFill>
              <a:srgbClr val="5EEA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0" y="1280160"/>
            <a:ext cx="914400" cy="777240"/>
          </a:xfrm>
          <a:prstGeom prst="rect">
            <a:avLst/>
          </a:prstGeom>
          <a:solidFill>
            <a:srgbClr val="134E4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34640" y="13258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49040" y="1664208"/>
            <a:ext cx="137160" cy="0"/>
          </a:xfrm>
          <a:prstGeom prst="line">
            <a:avLst/>
          </a:prstGeom>
          <a:noFill/>
          <a:ln w="19050">
            <a:solidFill>
              <a:srgbClr val="5EEA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86200" y="1280160"/>
            <a:ext cx="1097280" cy="777240"/>
          </a:xfrm>
          <a:prstGeom prst="rect">
            <a:avLst/>
          </a:prstGeom>
          <a:solidFill>
            <a:srgbClr val="134E4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86200" y="132588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filters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83480" y="1664208"/>
            <a:ext cx="137160" cy="0"/>
          </a:xfrm>
          <a:prstGeom prst="line">
            <a:avLst/>
          </a:prstGeom>
          <a:noFill/>
          <a:ln w="19050">
            <a:solidFill>
              <a:srgbClr val="5EEA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20640" y="1280160"/>
            <a:ext cx="914400" cy="777240"/>
          </a:xfrm>
          <a:prstGeom prst="rect">
            <a:avLst/>
          </a:prstGeom>
          <a:solidFill>
            <a:srgbClr val="134E4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0" y="13258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35040" y="1664208"/>
            <a:ext cx="137160" cy="0"/>
          </a:xfrm>
          <a:prstGeom prst="line">
            <a:avLst/>
          </a:prstGeom>
          <a:noFill/>
          <a:ln w="19050">
            <a:solidFill>
              <a:srgbClr val="5EEA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1280160"/>
            <a:ext cx="822960" cy="777240"/>
          </a:xfrm>
          <a:prstGeom prst="rect">
            <a:avLst/>
          </a:prstGeom>
          <a:solidFill>
            <a:srgbClr val="134E4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72200" y="132588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995160" y="1664208"/>
            <a:ext cx="137160" cy="0"/>
          </a:xfrm>
          <a:prstGeom prst="line">
            <a:avLst/>
          </a:prstGeom>
          <a:noFill/>
          <a:ln w="19050">
            <a:solidFill>
              <a:srgbClr val="5EEA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0" y="1280160"/>
            <a:ext cx="822960" cy="777240"/>
          </a:xfrm>
          <a:prstGeom prst="rect">
            <a:avLst/>
          </a:prstGeom>
          <a:solidFill>
            <a:srgbClr val="134E4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132320" y="132588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955280" y="1664208"/>
            <a:ext cx="137160" cy="0"/>
          </a:xfrm>
          <a:prstGeom prst="line">
            <a:avLst/>
          </a:prstGeom>
          <a:noFill/>
          <a:ln w="19050">
            <a:solidFill>
              <a:srgbClr val="5EEA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92440" y="1280160"/>
            <a:ext cx="914400" cy="77724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092440" y="13258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2468880"/>
            <a:ext cx="8229600" cy="2286000"/>
          </a:xfrm>
          <a:prstGeom prst="rect">
            <a:avLst/>
          </a:prstGeom>
          <a:solidFill>
            <a:srgbClr val="134E4A">
              <a:alpha val="5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260604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88%</a:t>
            </a:r>
            <a:endParaRPr lang="en-US" sz="5600" dirty="0"/>
          </a:p>
        </p:txBody>
      </p:sp>
      <p:sp>
        <p:nvSpPr>
          <p:cNvPr id="29" name="Text 27"/>
          <p:cNvSpPr/>
          <p:nvPr/>
        </p:nvSpPr>
        <p:spPr>
          <a:xfrm>
            <a:off x="73152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114800" y="2651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0" y="2651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MIT-BIH Arrhythmia (87,554 train / 21,892 test)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14800" y="3063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0" y="3063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2-layer CNN with MaxPooling + Dense layers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114800" y="3474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0" y="3474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epochs, Adam optimizer, Binary Crossentropy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114800" y="3886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0" y="3886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 signals converted to 224×224 images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114800" y="4297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0" y="4297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classification: Normal / Abnormal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Streamlit Web Application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64592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108960"/>
          </a:xfrm>
          <a:prstGeom prst="rect">
            <a:avLst/>
          </a:prstGeom>
          <a:solidFill>
            <a:srgbClr val="E8E8E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home_p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463040"/>
            <a:ext cx="3840480" cy="3017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5488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Interface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1417320"/>
            <a:ext cx="3931920" cy="3108960"/>
          </a:xfrm>
          <a:prstGeom prst="rect">
            <a:avLst/>
          </a:prstGeom>
          <a:solidFill>
            <a:srgbClr val="E8E8E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9" name="Image 1" descr="/home/claude/prediction_form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00600" y="1463040"/>
            <a:ext cx="384048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 Results &amp; AI Chatbot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64592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Output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108960"/>
          </a:xfrm>
          <a:prstGeom prst="rect">
            <a:avLst/>
          </a:prstGeom>
          <a:solidFill>
            <a:srgbClr val="E8E8E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prediction_resul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463040"/>
            <a:ext cx="3840480" cy="3017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5488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AI Chatbot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1417320"/>
            <a:ext cx="3931920" cy="3108960"/>
          </a:xfrm>
          <a:prstGeom prst="rect">
            <a:avLst/>
          </a:prstGeom>
          <a:solidFill>
            <a:srgbClr val="E8E8E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9" name="Image 1" descr="/home/claude/chatbot_pag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00600" y="1463040"/>
            <a:ext cx="384048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Technologies &amp; Tools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64592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651760" cy="1600200"/>
          </a:xfrm>
          <a:prstGeom prst="rect">
            <a:avLst/>
          </a:prstGeom>
          <a:solidFill>
            <a:srgbClr val="134E4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Languages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8745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37560" y="1188720"/>
            <a:ext cx="2651760" cy="1600200"/>
          </a:xfrm>
          <a:prstGeom prst="rect">
            <a:avLst/>
          </a:prstGeom>
          <a:solidFill>
            <a:srgbClr val="134E4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37160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7764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Libraries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520440" y="18745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Scikit-learn, XGBoost,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IMBLearn (SMOTE)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17920" y="1188720"/>
            <a:ext cx="2651760" cy="1600200"/>
          </a:xfrm>
          <a:prstGeom prst="rect">
            <a:avLst/>
          </a:prstGeom>
          <a:solidFill>
            <a:srgbClr val="134E4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5800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Learning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400800" y="18745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Architecture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57200" y="3017520"/>
            <a:ext cx="2651760" cy="1600200"/>
          </a:xfrm>
          <a:prstGeom prst="rect">
            <a:avLst/>
          </a:prstGeom>
          <a:solidFill>
            <a:srgbClr val="134E4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0040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9728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Framework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40080" y="3703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Option Menu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3337560" y="3017520"/>
            <a:ext cx="2651760" cy="1600200"/>
          </a:xfrm>
          <a:prstGeom prst="rect">
            <a:avLst/>
          </a:prstGeom>
          <a:solidFill>
            <a:srgbClr val="134E4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320040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97764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Processing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3520440" y="3703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OpenCV, Pillow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217920" y="3017520"/>
            <a:ext cx="2651760" cy="1600200"/>
          </a:xfrm>
          <a:prstGeom prst="rect">
            <a:avLst/>
          </a:prstGeom>
          <a:solidFill>
            <a:srgbClr val="134E4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200400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85800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Integration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6400800" y="3703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GPT-4o-mini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Assistant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Summary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645920" cy="36576"/>
          </a:xfrm>
          <a:prstGeom prst="rect">
            <a:avLst/>
          </a:prstGeom>
          <a:solidFill>
            <a:srgbClr val="0D9488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1097280"/>
                <a:gridCol w="1280160"/>
                <a:gridCol w="1097280"/>
                <a:gridCol w="12801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 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75.6%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60.9%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0.12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0.44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0.19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84.8%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53.9%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0.10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0.19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0.13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76.8%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61.1%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0.12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0.43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0.19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0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(ECG)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066"/>
                          </a:solidFill>
                        </a:rPr>
                        <a:t>88%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200400"/>
            <a:ext cx="8229600" cy="1645920"/>
          </a:xfrm>
          <a:prstGeom prst="rect">
            <a:avLst/>
          </a:prstGeom>
          <a:solidFill>
            <a:srgbClr val="F0FD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38328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8720" y="3383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Insights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achieved the best overall accuracy (84.8%) but with lower ROC-AUC, indicating a bias toward the majority class. XGBoost provided the best balance between sensitivity and specificity. The CNN model for ECG classification achieved 88% accuracy, demonstrating the effectiveness of deep learning for signal-based diagnosis.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14B8A6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Future Work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64592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43000"/>
            <a:ext cx="3931920" cy="3383280"/>
          </a:xfrm>
          <a:prstGeom prst="rect">
            <a:avLst/>
          </a:prstGeom>
          <a:solidFill>
            <a:srgbClr val="134E4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18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74520"/>
            <a:ext cx="164592" cy="1645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182880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developed a dual-model AI system for heart disease prediction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50008"/>
            <a:ext cx="164592" cy="1645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230428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provides risk assessment from clinical health indicators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825496"/>
            <a:ext cx="164592" cy="1645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05840" y="277977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model classifies ECG images with 88% accuracy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300984"/>
            <a:ext cx="164592" cy="16459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05840" y="3255264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Streamlit application deployed with real-time predictions</a:t>
            </a:r>
            <a:endParaRPr lang="en-US" sz="11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776472"/>
            <a:ext cx="164592" cy="16459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005840" y="373075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enhances user experience with guided health insights</a:t>
            </a:r>
            <a:endParaRPr lang="en-US" sz="1100" dirty="0"/>
          </a:p>
        </p:txBody>
      </p:sp>
      <p:sp>
        <p:nvSpPr>
          <p:cNvPr id="19" name="Shape 11"/>
          <p:cNvSpPr/>
          <p:nvPr/>
        </p:nvSpPr>
        <p:spPr>
          <a:xfrm>
            <a:off x="4754880" y="1143000"/>
            <a:ext cx="3931920" cy="3383280"/>
          </a:xfrm>
          <a:prstGeom prst="rect">
            <a:avLst/>
          </a:prstGeom>
          <a:solidFill>
            <a:srgbClr val="134E4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1325880"/>
            <a:ext cx="365760" cy="36576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48640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Scope</a:t>
            </a:r>
            <a:endParaRPr lang="en-US" sz="18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1874520"/>
            <a:ext cx="164592" cy="164592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303520" y="182880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real-time ECG monitoring from wearable devices</a:t>
            </a:r>
            <a:endParaRPr lang="en-US" sz="11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0" y="2350008"/>
            <a:ext cx="164592" cy="164592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303520" y="230428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ML algorithms (SVM, KNN, Neural Networks) for comparison</a:t>
            </a:r>
            <a:endParaRPr lang="en-US" sz="110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00" y="2825496"/>
            <a:ext cx="164592" cy="164592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303520" y="277977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multi-class heart disease classification</a:t>
            </a:r>
            <a:endParaRPr lang="en-US" sz="1100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9200" y="3300984"/>
            <a:ext cx="164592" cy="164592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5303520" y="3255264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federated learning for privacy-preserving predictions</a:t>
            </a:r>
            <a:endParaRPr lang="en-US" sz="1100" dirty="0"/>
          </a:p>
        </p:txBody>
      </p:sp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9200" y="3776472"/>
            <a:ext cx="164592" cy="164592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5303520" y="373075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mobile application for broader accessibility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457200"/>
            <a:ext cx="3657600" cy="365760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914400"/>
            <a:ext cx="2743200" cy="2743200"/>
          </a:xfrm>
          <a:prstGeom prst="ellipse">
            <a:avLst/>
          </a:prstGeom>
          <a:solidFill>
            <a:srgbClr val="14B8A6">
              <a:alpha val="2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1887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3657600" y="3383280"/>
            <a:ext cx="18288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3566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Heart Disease Prediction and Risk Analysis</dc:title>
  <dc:subject>PptxGenJS Presentation</dc:subject>
  <dc:creator>AI Healthcare Team</dc:creator>
  <cp:lastModifiedBy>AI Healthcare Team</cp:lastModifiedBy>
  <cp:revision>1</cp:revision>
  <dcterms:created xsi:type="dcterms:W3CDTF">2026-05-06T22:46:26Z</dcterms:created>
  <dcterms:modified xsi:type="dcterms:W3CDTF">2026-05-06T22:46:26Z</dcterms:modified>
</cp:coreProperties>
</file>